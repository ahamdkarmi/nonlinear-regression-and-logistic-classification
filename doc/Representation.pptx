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beel Sawafta" userId="ee9edb25e1665790" providerId="LiveId" clId="{5DB8CF42-3FC7-4BC5-9F6C-0B4F2709AB11}"/>
    <pc:docChg chg="modSld">
      <pc:chgData name="Nabeel Sawafta" userId="ee9edb25e1665790" providerId="LiveId" clId="{5DB8CF42-3FC7-4BC5-9F6C-0B4F2709AB11}" dt="2025-11-23T09:40:56.976" v="1" actId="20577"/>
      <pc:docMkLst>
        <pc:docMk/>
      </pc:docMkLst>
      <pc:sldChg chg="modSp mod">
        <pc:chgData name="Nabeel Sawafta" userId="ee9edb25e1665790" providerId="LiveId" clId="{5DB8CF42-3FC7-4BC5-9F6C-0B4F2709AB11}" dt="2025-11-23T09:40:56.976" v="1" actId="20577"/>
        <pc:sldMkLst>
          <pc:docMk/>
          <pc:sldMk cId="4178297302" sldId="256"/>
        </pc:sldMkLst>
        <pc:spChg chg="mod">
          <ac:chgData name="Nabeel Sawafta" userId="ee9edb25e1665790" providerId="LiveId" clId="{5DB8CF42-3FC7-4BC5-9F6C-0B4F2709AB11}" dt="2025-11-23T09:40:56.976" v="1" actId="20577"/>
          <ac:spMkLst>
            <pc:docMk/>
            <pc:sldMk cId="4178297302" sldId="256"/>
            <ac:spMk id="3" creationId="{0D8EF416-7EF8-463B-3569-FAFF3EEF89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92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8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8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0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1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4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2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8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76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30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48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45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71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29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59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2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8ECA9E-7831-43F8-ABEE-8424A8840B8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510236-6D74-4C55-A270-BBF692223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42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E152-46CA-2894-3675-536386C42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EF416-7EF8-463B-3569-FAFF3EEF89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Nabeel Sawafta 1220869</a:t>
            </a:r>
          </a:p>
          <a:p>
            <a:r>
              <a:rPr lang="en-US" dirty="0"/>
              <a:t>Ahmad </a:t>
            </a:r>
            <a:r>
              <a:rPr lang="en-US"/>
              <a:t>Karmi       1220003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29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7F7527-5AC0-479A-B79F-9CF463410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13E87-DF2A-A9B6-69AC-A8B26E2A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600" dirty="0"/>
              <a:t>Topics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02F71-F44A-4CE2-1789-DBFE83AAE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88658" y="1305524"/>
            <a:ext cx="6517543" cy="4557849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r>
              <a:rPr lang="en-US" dirty="0"/>
              <a:t>1- Non-Linear Regression</a:t>
            </a:r>
          </a:p>
          <a:p>
            <a:pPr>
              <a:buFont typeface="Arial"/>
              <a:buChar char="•"/>
            </a:pPr>
            <a:r>
              <a:rPr lang="en-US" dirty="0"/>
              <a:t>Problem overview (Part 1)</a:t>
            </a:r>
          </a:p>
          <a:p>
            <a:pPr>
              <a:buFont typeface="Arial"/>
              <a:buChar char="•"/>
            </a:pPr>
            <a:r>
              <a:rPr lang="en-US" dirty="0"/>
              <a:t>Data visualization</a:t>
            </a:r>
          </a:p>
          <a:p>
            <a:pPr>
              <a:buFont typeface="Arial"/>
              <a:buChar char="•"/>
            </a:pPr>
            <a:r>
              <a:rPr lang="en-US" dirty="0"/>
              <a:t>What is Ridge Regression?</a:t>
            </a:r>
          </a:p>
          <a:p>
            <a:pPr>
              <a:buFont typeface="Arial"/>
              <a:buChar char="•"/>
            </a:pPr>
            <a:r>
              <a:rPr lang="en-US" dirty="0"/>
              <a:t>Ridge Regression</a:t>
            </a:r>
          </a:p>
          <a:p>
            <a:pPr>
              <a:buFont typeface="Arial"/>
              <a:buChar char="•"/>
            </a:pPr>
            <a:r>
              <a:rPr lang="en-US" dirty="0"/>
              <a:t>What Are RBFs?</a:t>
            </a:r>
          </a:p>
          <a:p>
            <a:pPr>
              <a:buFont typeface="Arial"/>
              <a:buChar char="•"/>
            </a:pPr>
            <a:r>
              <a:rPr lang="en-US" dirty="0"/>
              <a:t>RBFs</a:t>
            </a:r>
          </a:p>
          <a:p>
            <a:pPr>
              <a:buFont typeface="Arial"/>
              <a:buChar char="•"/>
            </a:pPr>
            <a:r>
              <a:rPr lang="en-US" dirty="0"/>
              <a:t>Best model for Part1</a:t>
            </a:r>
          </a:p>
          <a:p>
            <a:pPr>
              <a:buFont typeface="Arial"/>
              <a:buChar char="•"/>
            </a:pPr>
            <a:endParaRPr lang="en-US" dirty="0"/>
          </a:p>
          <a:p>
            <a:r>
              <a:rPr lang="en-US" dirty="0"/>
              <a:t>2-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 overview (Part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Linear Regression?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Non-Linear Regression?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ROC and AUC?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model for Part2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 of Model Complexity</a:t>
            </a:r>
          </a:p>
        </p:txBody>
      </p:sp>
    </p:spTree>
    <p:extLst>
      <p:ext uri="{BB962C8B-B14F-4D97-AF65-F5344CB8AC3E}">
        <p14:creationId xmlns:p14="http://schemas.microsoft.com/office/powerpoint/2010/main" val="229488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F9CD-06E3-1811-CF5B-2CD2B683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overview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F649E-E56C-8D2A-4E60-1AD43079C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 So, what the problem that we are trying to solve?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Generate dataset S with: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			y=sin⁡(5πx)+ϵ where ϵ ∈ [−0.3,0.3]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Apply </a:t>
            </a:r>
            <a:r>
              <a:rPr lang="en-US" altLang="en-US" b="1" dirty="0">
                <a:latin typeface="Arial" panose="020B0604020202020204" pitchFamily="34" charset="0"/>
              </a:rPr>
              <a:t>Ridge Regression</a:t>
            </a:r>
            <a:r>
              <a:rPr lang="en-US" altLang="en-US" dirty="0">
                <a:latin typeface="Arial" panose="020B0604020202020204" pitchFamily="34" charset="0"/>
              </a:rPr>
              <a:t> using degree-10 polynomial features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Apply </a:t>
            </a:r>
            <a:r>
              <a:rPr lang="en-US" altLang="en-US" b="1" dirty="0">
                <a:latin typeface="Arial" panose="020B0604020202020204" pitchFamily="34" charset="0"/>
              </a:rPr>
              <a:t>RBF Regression</a:t>
            </a:r>
            <a:r>
              <a:rPr lang="en-US" altLang="en-US" dirty="0">
                <a:latin typeface="Arial" panose="020B0604020202020204" pitchFamily="34" charset="0"/>
              </a:rPr>
              <a:t> with different numbers of basis functions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Compare models and discuss which one generalizes best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0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61B8F-6A55-8BF8-D4D7-C3CE31879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Data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A7DD5-FF14-32A4-8144-66CC5BC60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2178" y="2261420"/>
            <a:ext cx="4002936" cy="36379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dirty="0"/>
              <a:t>This plot shows the dataset S that we randomly generated 25 x-values in the interval [0, 1].</a:t>
            </a:r>
          </a:p>
          <a:p>
            <a:pPr>
              <a:buFont typeface="Arial"/>
              <a:buChar char="•"/>
            </a:pPr>
            <a:r>
              <a:rPr lang="en-US" dirty="0"/>
              <a:t>And to make it more realistic, we added uniform noise between –0.3 and 0.3 to each point.</a:t>
            </a:r>
          </a:p>
          <a:p>
            <a:pPr>
              <a:buFont typeface="Arial"/>
              <a:buChar char="•"/>
            </a:pPr>
            <a:r>
              <a:rPr lang="en-US" dirty="0"/>
              <a:t> But because the dataset is very small  (only 25 points) and the noise is relatively high.</a:t>
            </a:r>
          </a:p>
        </p:txBody>
      </p:sp>
      <p:pic>
        <p:nvPicPr>
          <p:cNvPr id="6" name="Content Placeholder 5" descr="A graph of a function&#10;&#10;AI-generated content may be incorrect.">
            <a:extLst>
              <a:ext uri="{FF2B5EF4-FFF2-40B4-BE49-F238E27FC236}">
                <a16:creationId xmlns:a16="http://schemas.microsoft.com/office/drawing/2014/main" id="{B2E9D5EC-4B43-4719-370E-2F7EABD99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289752" y="1443012"/>
            <a:ext cx="6095593" cy="380974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944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FFDE-832C-A90B-8E51-6F5063FA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Ridge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161F12-550C-ED38-47E7-3E52B812F8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Before we start talking about how we used Ridge Regression on the function lets talk about (What is Ridge Regression?)</a:t>
                </a:r>
              </a:p>
              <a:p>
                <a:r>
                  <a:rPr lang="en-US" dirty="0"/>
                  <a:t>Ridge Regression  is a regularized version of polynomial linear regression that adds penalty on large coefficients to help control overfitting</a:t>
                </a:r>
              </a:p>
              <a:p>
                <a:r>
                  <a:rPr lang="en-US" dirty="0"/>
                  <a:t>Parameter </a:t>
                </a:r>
                <a:r>
                  <a:rPr lang="el-GR" dirty="0"/>
                  <a:t>λ </a:t>
                </a:r>
                <a:r>
                  <a:rPr lang="en-US" dirty="0"/>
                  <a:t>controls strength of regularization</a:t>
                </a:r>
              </a:p>
              <a:p>
                <a:r>
                  <a:rPr lang="en-US" dirty="0"/>
                  <a:t>With </a:t>
                </a:r>
                <a:r>
                  <a:rPr lang="el-GR" dirty="0"/>
                  <a:t>λ = 0 → </a:t>
                </a:r>
                <a:r>
                  <a:rPr lang="en-US" dirty="0"/>
                  <a:t>ordinary least squares</a:t>
                </a:r>
              </a:p>
              <a:p>
                <a:r>
                  <a:rPr lang="en-US" dirty="0"/>
                  <a:t>With large </a:t>
                </a:r>
                <a:r>
                  <a:rPr lang="el-GR" dirty="0"/>
                  <a:t>λ → </a:t>
                </a:r>
                <a:r>
                  <a:rPr lang="en-US" dirty="0"/>
                  <a:t>smoother, less flexible curve</a:t>
                </a:r>
              </a:p>
              <a:p>
                <a:r>
                  <a:rPr lang="en-US" b="1" dirty="0"/>
                  <a:t>Ridge penalty equation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JO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JO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ar-JO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JO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JO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JO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JO" i="1">
                            <a:latin typeface="Cambria Math" panose="02040503050406030204" pitchFamily="18" charset="0"/>
                          </a:rPr>
                          <m:t>𝐼</m:t>
                        </m:r>
                        <m:sSup>
                          <m:sSupPr>
                            <m:ctrlPr>
                              <a:rPr lang="ar-JO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JO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JO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JO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JO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ar-JO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JO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ar-JO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J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ar-JO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161F12-550C-ED38-47E7-3E52B812F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1" t="-2671" b="-16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25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AA98E5-6996-5FC5-D6C8-77A7E7A8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F52BC4-AB10-DC1C-BDD3-1CEAEE171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486" y="1993392"/>
            <a:ext cx="4750036" cy="2999910"/>
          </a:xfrm>
        </p:spPr>
        <p:txBody>
          <a:bodyPr/>
          <a:lstStyle/>
          <a:p>
            <a:r>
              <a:rPr lang="el-GR" sz="1600" dirty="0"/>
              <a:t>λ = 0:</a:t>
            </a:r>
            <a:r>
              <a:rPr lang="en-US" sz="1600" dirty="0"/>
              <a:t> The generalization error is still the lowest.</a:t>
            </a:r>
          </a:p>
          <a:p>
            <a:r>
              <a:rPr lang="en-US" sz="1600" b="1" dirty="0"/>
              <a:t>This is because our dataset is very small, and randomly the degree-10 polynomial fit happens to follow the true function nicely.</a:t>
            </a:r>
          </a:p>
          <a:p>
            <a:r>
              <a:rPr lang="el-GR" sz="1600" dirty="0"/>
              <a:t>λ = 0.01:</a:t>
            </a:r>
            <a:r>
              <a:rPr lang="en-US" sz="1600" dirty="0"/>
              <a:t> the weights become much smaller.</a:t>
            </a:r>
            <a:br>
              <a:rPr lang="en-US" sz="1600" dirty="0"/>
            </a:br>
            <a:r>
              <a:rPr lang="en-US" sz="1600" dirty="0"/>
              <a:t>This means the curve becomes smoother and less wiggly.</a:t>
            </a:r>
          </a:p>
          <a:p>
            <a:r>
              <a:rPr lang="en-US" sz="1600" dirty="0"/>
              <a:t>Generalization gets WORSE as λ increases</a:t>
            </a:r>
          </a:p>
          <a:p>
            <a:endParaRPr lang="en-US" sz="16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81958D-A045-DCCA-2464-5DB6B53B96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59806097"/>
              </p:ext>
            </p:extLst>
          </p:nvPr>
        </p:nvGraphicFramePr>
        <p:xfrm>
          <a:off x="877824" y="4608576"/>
          <a:ext cx="5486400" cy="145626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92014693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6038970"/>
                    </a:ext>
                  </a:extLst>
                </a:gridCol>
              </a:tblGrid>
              <a:tr h="24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900"/>
                        <a:t>λ</a:t>
                      </a:r>
                    </a:p>
                  </a:txBody>
                  <a:tcPr marL="45090" marR="45090" marT="22545" marB="225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generalization MSE</a:t>
                      </a:r>
                    </a:p>
                  </a:txBody>
                  <a:tcPr marL="45090" marR="45090" marT="22545" marB="22545" anchor="ctr"/>
                </a:tc>
                <a:extLst>
                  <a:ext uri="{0D108BD9-81ED-4DB2-BD59-A6C34878D82A}">
                    <a16:rowId xmlns:a16="http://schemas.microsoft.com/office/drawing/2014/main" val="2393489702"/>
                  </a:ext>
                </a:extLst>
              </a:tr>
              <a:tr h="24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0</a:t>
                      </a:r>
                      <a:endParaRPr lang="en-US" sz="900" dirty="0"/>
                    </a:p>
                  </a:txBody>
                  <a:tcPr marL="45090" marR="45090" marT="22545" marB="225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0.039 (BEST)</a:t>
                      </a:r>
                      <a:endParaRPr lang="en-US" sz="900"/>
                    </a:p>
                  </a:txBody>
                  <a:tcPr marL="45090" marR="45090" marT="22545" marB="22545" anchor="ctr"/>
                </a:tc>
                <a:extLst>
                  <a:ext uri="{0D108BD9-81ED-4DB2-BD59-A6C34878D82A}">
                    <a16:rowId xmlns:a16="http://schemas.microsoft.com/office/drawing/2014/main" val="3257434221"/>
                  </a:ext>
                </a:extLst>
              </a:tr>
              <a:tr h="24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0.0001</a:t>
                      </a:r>
                    </a:p>
                  </a:txBody>
                  <a:tcPr marL="45090" marR="45090" marT="22545" marB="225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0.406</a:t>
                      </a:r>
                    </a:p>
                  </a:txBody>
                  <a:tcPr marL="45090" marR="45090" marT="22545" marB="22545" anchor="ctr"/>
                </a:tc>
                <a:extLst>
                  <a:ext uri="{0D108BD9-81ED-4DB2-BD59-A6C34878D82A}">
                    <a16:rowId xmlns:a16="http://schemas.microsoft.com/office/drawing/2014/main" val="3802060911"/>
                  </a:ext>
                </a:extLst>
              </a:tr>
              <a:tr h="24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0.01</a:t>
                      </a:r>
                    </a:p>
                  </a:txBody>
                  <a:tcPr marL="45090" marR="45090" marT="22545" marB="225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0.449</a:t>
                      </a:r>
                    </a:p>
                  </a:txBody>
                  <a:tcPr marL="45090" marR="45090" marT="22545" marB="22545" anchor="ctr"/>
                </a:tc>
                <a:extLst>
                  <a:ext uri="{0D108BD9-81ED-4DB2-BD59-A6C34878D82A}">
                    <a16:rowId xmlns:a16="http://schemas.microsoft.com/office/drawing/2014/main" val="3335101255"/>
                  </a:ext>
                </a:extLst>
              </a:tr>
              <a:tr h="22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0.1</a:t>
                      </a:r>
                    </a:p>
                  </a:txBody>
                  <a:tcPr marL="45090" marR="45090" marT="22545" marB="225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0.467</a:t>
                      </a:r>
                    </a:p>
                  </a:txBody>
                  <a:tcPr marL="45090" marR="45090" marT="22545" marB="22545" anchor="ctr"/>
                </a:tc>
                <a:extLst>
                  <a:ext uri="{0D108BD9-81ED-4DB2-BD59-A6C34878D82A}">
                    <a16:rowId xmlns:a16="http://schemas.microsoft.com/office/drawing/2014/main" val="1558894445"/>
                  </a:ext>
                </a:extLst>
              </a:tr>
              <a:tr h="246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1</a:t>
                      </a:r>
                    </a:p>
                  </a:txBody>
                  <a:tcPr marL="45090" marR="45090" marT="22545" marB="225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0.482</a:t>
                      </a:r>
                    </a:p>
                  </a:txBody>
                  <a:tcPr marL="45090" marR="45090" marT="22545" marB="22545" anchor="ctr"/>
                </a:tc>
                <a:extLst>
                  <a:ext uri="{0D108BD9-81ED-4DB2-BD59-A6C34878D82A}">
                    <a16:rowId xmlns:a16="http://schemas.microsoft.com/office/drawing/2014/main" val="3343511759"/>
                  </a:ext>
                </a:extLst>
              </a:tr>
            </a:tbl>
          </a:graphicData>
        </a:graphic>
      </p:graphicFrame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BBB45DED-52BE-6022-7C68-3CA13228580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541562" y="2376981"/>
            <a:ext cx="5377229" cy="368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01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4D35-6489-DB7F-2B90-1CF5F5889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RBFs?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3FE4-64B5-5782-6725-C15F3B572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we start talking about how we used RBFs on the function lets talk about (What is RBFs?)</a:t>
            </a:r>
          </a:p>
          <a:p>
            <a:r>
              <a:rPr lang="en-US" dirty="0"/>
              <a:t>Radial Basis Function: It’s another way to build a regression model, but instead of using polynomial features like in Ridge Regression, we create features based on distances from certain points called centers.</a:t>
            </a:r>
          </a:p>
          <a:p>
            <a:r>
              <a:rPr lang="en-US" dirty="0"/>
              <a:t>Each RBF creates a smooth “bump” around its center, and the model becomes a weighted sum of these bumps.</a:t>
            </a:r>
          </a:p>
          <a:p>
            <a:r>
              <a:rPr lang="en-US" dirty="0"/>
              <a:t>The width of each bump is controlled by a parameter called sigma (σ). A small sigma gives sharp bumps, and a large sigma gives wide, smooth bumps.</a:t>
            </a:r>
          </a:p>
          <a:p>
            <a:r>
              <a:rPr lang="en-US" dirty="0"/>
              <a:t>By choosing more centers, the model becomes more flexible. With fewer centers, it becomes smoother.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73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3ED72BE-2F78-4DD7-B0A1-DCD0503B1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D057A33-981D-4157-E5B7-CFF7F38D5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187" y="1030288"/>
            <a:ext cx="4099947" cy="10355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RBFs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04857D-B1C1-41ED-B1B4-E3D6E3C7C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797333" y="4261157"/>
            <a:ext cx="2971800" cy="1708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32">
            <a:extLst>
              <a:ext uri="{FF2B5EF4-FFF2-40B4-BE49-F238E27FC236}">
                <a16:creationId xmlns:a16="http://schemas.microsoft.com/office/drawing/2014/main" id="{E5A9FA1E-7A9B-4CDA-91BB-87575F63E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2585" y="639097"/>
            <a:ext cx="5433751" cy="5575438"/>
          </a:xfrm>
          <a:prstGeom prst="roundRect">
            <a:avLst>
              <a:gd name="adj" fmla="val 3449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12C23E7-01CE-781D-1BBF-B45C59EC34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5193" y="924786"/>
            <a:ext cx="5239935" cy="2253172"/>
          </a:xfrm>
          <a:prstGeom prst="roundRect">
            <a:avLst>
              <a:gd name="adj" fmla="val 4207"/>
            </a:avLst>
          </a:prstGeom>
          <a:ln w="50800" cap="sq" cmpd="dbl">
            <a:noFill/>
            <a:miter lim="800000"/>
          </a:ln>
          <a:effectLst/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BA9C2A8-521B-8B47-9F42-09DB1FC99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192" y="3721525"/>
            <a:ext cx="5239935" cy="2161472"/>
          </a:xfrm>
          <a:prstGeom prst="roundRect">
            <a:avLst>
              <a:gd name="adj" fmla="val 4528"/>
            </a:avLst>
          </a:prstGeom>
          <a:ln w="50800" cap="sq" cmpd="dbl">
            <a:noFill/>
            <a:miter lim="800000"/>
          </a:ln>
          <a:effectLst/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31AACFEF-C10E-EB07-1E98-5E1CCCB25FE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28384" y="2335381"/>
            <a:ext cx="329128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we can see from the plots: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k=1 → too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k=5 → better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k=10 → best 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k=50 → extreme overfitting</a:t>
            </a:r>
          </a:p>
        </p:txBody>
      </p:sp>
    </p:spTree>
    <p:extLst>
      <p:ext uri="{BB962C8B-B14F-4D97-AF65-F5344CB8AC3E}">
        <p14:creationId xmlns:p14="http://schemas.microsoft.com/office/powerpoint/2010/main" val="427867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8222-CA89-7BC0-7AB4-217298B1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 for Part1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12076-AB0B-5447-F09A-55F7F827A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2139019"/>
            <a:ext cx="4996923" cy="2920998"/>
          </a:xfrm>
        </p:spPr>
        <p:txBody>
          <a:bodyPr/>
          <a:lstStyle/>
          <a:p>
            <a:r>
              <a:rPr lang="en-US" b="1" dirty="0"/>
              <a:t>Ridge Regression</a:t>
            </a:r>
          </a:p>
          <a:p>
            <a:r>
              <a:rPr lang="en-US" dirty="0"/>
              <a:t>λ=0 performed best on this dataset</a:t>
            </a:r>
          </a:p>
          <a:p>
            <a:r>
              <a:rPr lang="en-US" dirty="0"/>
              <a:t>But weights were very large</a:t>
            </a:r>
          </a:p>
          <a:p>
            <a:r>
              <a:rPr lang="en-US" dirty="0"/>
              <a:t>So, we might say </a:t>
            </a:r>
            <a:r>
              <a:rPr lang="el-GR" dirty="0"/>
              <a:t>λ = 0.01</a:t>
            </a:r>
            <a:r>
              <a:rPr lang="en-US" dirty="0"/>
              <a:t> was better since the weight was much smaller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D8F31-17A5-FA7E-40F6-658A424B4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28700" y="5430859"/>
            <a:ext cx="9788526" cy="576262"/>
          </a:xfrm>
        </p:spPr>
        <p:txBody>
          <a:bodyPr/>
          <a:lstStyle/>
          <a:p>
            <a:r>
              <a:rPr lang="en-US" sz="2400" dirty="0"/>
              <a:t>Best overall model in Part 1 👉 </a:t>
            </a:r>
            <a:r>
              <a:rPr lang="en-US" sz="2400" b="1" dirty="0"/>
              <a:t>RBF Regression with 10 basis functions</a:t>
            </a:r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FFE5A-DDFA-9C31-BFF7-3A0404CAA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21892" y="2139019"/>
            <a:ext cx="4995334" cy="2920998"/>
          </a:xfrm>
        </p:spPr>
        <p:txBody>
          <a:bodyPr/>
          <a:lstStyle/>
          <a:p>
            <a:r>
              <a:rPr lang="en-US" b="1" dirty="0"/>
              <a:t>RBF Regression</a:t>
            </a:r>
          </a:p>
          <a:p>
            <a:r>
              <a:rPr lang="en-US" dirty="0"/>
              <a:t>Best performance at k=10</a:t>
            </a:r>
          </a:p>
          <a:p>
            <a:r>
              <a:rPr lang="en-US" dirty="0"/>
              <a:t>k=1 → underfit</a:t>
            </a:r>
          </a:p>
          <a:p>
            <a:r>
              <a:rPr lang="en-US" dirty="0"/>
              <a:t>k=50 → overfit massively</a:t>
            </a:r>
          </a:p>
          <a:p>
            <a:r>
              <a:rPr lang="en-US" dirty="0"/>
              <a:t>RBFs captured oscillations better than polynomials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49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C348-0184-8A13-477F-AC7FA3C2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overview (Part 2)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43166-3BA7-94BC-5479-8789AAF32D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1" y="2798328"/>
            <a:ext cx="4722813" cy="576262"/>
          </a:xfrm>
        </p:spPr>
        <p:txBody>
          <a:bodyPr/>
          <a:lstStyle/>
          <a:p>
            <a:r>
              <a:rPr lang="en-US" dirty="0"/>
              <a:t>So, what problem are we trying to solve?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D519D4A9-1293-6E76-E910-F53122FC0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6470" y="3771541"/>
            <a:ext cx="766427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Predict customer churn using Logistic Regression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and preprocess the customer churn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the data into training, validation, and test 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Logistic Regression with a linear decision boundary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Logistic Regression with polynomial features (degrees 2, 5, and 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all models using accuracy, precision, and recall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the best model and plot its ROC curve and AUC score</a:t>
            </a:r>
          </a:p>
        </p:txBody>
      </p:sp>
    </p:spTree>
    <p:extLst>
      <p:ext uri="{BB962C8B-B14F-4D97-AF65-F5344CB8AC3E}">
        <p14:creationId xmlns:p14="http://schemas.microsoft.com/office/powerpoint/2010/main" val="152994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2F5A5-B783-78BE-9F2D-859D00EA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3" y="134990"/>
            <a:ext cx="10131425" cy="1456267"/>
          </a:xfrm>
        </p:spPr>
        <p:txBody>
          <a:bodyPr/>
          <a:lstStyle/>
          <a:p>
            <a:r>
              <a:rPr lang="en-US" dirty="0"/>
              <a:t>What is Linear Regression?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ECBD4EC-4C35-E510-E35C-3B4A6EB11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0401" y="1426665"/>
            <a:ext cx="1187119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Linear Regression is a simple supervised learning method used to model the relationship between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input features and a continuous output.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assumes the data can be approximated by a straight line (or a linear combination of features)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find the best-fitting line that minimizes the error between predicted and actual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 estimates model parameters (weights)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Least Squares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finds the line that minimizes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 of squared errors (SSE)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predictions and true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model equation: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ŷ = w₀ +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w₁x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₁ +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w₂x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₂ + … +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wₙx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Parameter estimation formula:</a:t>
            </a:r>
            <a:br>
              <a:rPr lang="en-US" sz="1800" dirty="0"/>
            </a:br>
            <a:r>
              <a:rPr lang="en-US" sz="1800" b="1" dirty="0"/>
              <a:t>w = (XᵀX)⁻¹ </a:t>
            </a:r>
            <a:r>
              <a:rPr lang="en-US" sz="1800" b="1" dirty="0" err="1"/>
              <a:t>Xᵀy</a:t>
            </a:r>
            <a:endParaRPr lang="en-US" sz="1800" b="1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800" b="1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Linear Regression works well when the relationship is approximately linear, but struggles when the data is highly non-linear,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 which is why polynomial or regularized models are sometimes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4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820C-7164-6990-D91A-E2769EC9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Non-Linear Regression?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909C2C-574C-08DA-5294-067B1A585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1" y="2479134"/>
            <a:ext cx="1008333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Non-Linear Regression is used when the data cannot be fitted with a straight line.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assumes the relationship between inputs and outputs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curved or complex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find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non-linear function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best fits the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can use polynomial terms, exponential functions, or other transformations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fitting a line, it fits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follows the data pattern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parameters are chosen to minimize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 of squared errors (SSE)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/>
              <a:t>Non-Linear Regression is useful when linear regression is too simple to capture the real shape of the data.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63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CE9D-DE93-3777-23A7-EDEBD462D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ROC and AUC?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CA86E-AA82-44E4-F1E2-7CAC73044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3694" y="5791010"/>
            <a:ext cx="4709054" cy="576262"/>
          </a:xfrm>
        </p:spPr>
        <p:txBody>
          <a:bodyPr/>
          <a:lstStyle/>
          <a:p>
            <a:br>
              <a:rPr lang="en-US" sz="1800" dirty="0"/>
            </a:br>
            <a:r>
              <a:rPr lang="en-US" sz="1800" dirty="0"/>
              <a:t>The ROC curve (Receiver Operating  Characteristic) shows how well a classification model separates the two classes at different threshold values.</a:t>
            </a:r>
          </a:p>
          <a:p>
            <a:r>
              <a:rPr lang="en-US" sz="1800" dirty="0"/>
              <a:t>It plots the </a:t>
            </a:r>
            <a:r>
              <a:rPr lang="en-US" sz="1800" b="1" dirty="0"/>
              <a:t>True Positive Rate</a:t>
            </a:r>
            <a:r>
              <a:rPr lang="en-US" sz="1800" dirty="0"/>
              <a:t> vs. the </a:t>
            </a:r>
            <a:r>
              <a:rPr lang="en-US" sz="1800" b="1" dirty="0"/>
              <a:t>False Positive Rate</a:t>
            </a:r>
            <a:endParaRPr lang="en-US" sz="1800" dirty="0"/>
          </a:p>
          <a:p>
            <a:r>
              <a:rPr lang="en-US" sz="1800" dirty="0"/>
              <a:t>A good model has a curve that rises sharply toward the top-left corner</a:t>
            </a:r>
          </a:p>
          <a:p>
            <a:r>
              <a:rPr lang="en-US" sz="1800" dirty="0"/>
              <a:t>The ROC curve helps us see how the model performs across all possible classification thresholds</a:t>
            </a:r>
          </a:p>
          <a:p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22BD2-1636-67CC-1E27-3841C3ACB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9254" y="5429727"/>
            <a:ext cx="4722813" cy="576262"/>
          </a:xfrm>
        </p:spPr>
        <p:txBody>
          <a:bodyPr/>
          <a:lstStyle/>
          <a:p>
            <a:r>
              <a:rPr lang="en-US" sz="1800" b="1" dirty="0"/>
              <a:t>AUC (Area Under the Curve):</a:t>
            </a:r>
            <a:endParaRPr lang="en-US" sz="1800" dirty="0"/>
          </a:p>
          <a:p>
            <a:r>
              <a:rPr lang="en-US" sz="1800" dirty="0"/>
              <a:t>AUC measures the overall ability of the model to distinguish between the classes</a:t>
            </a:r>
          </a:p>
          <a:p>
            <a:r>
              <a:rPr lang="en-US" sz="1800" dirty="0"/>
              <a:t>Values range from </a:t>
            </a:r>
            <a:r>
              <a:rPr lang="en-US" sz="1800" b="1" dirty="0"/>
              <a:t>0.5 (no skill)</a:t>
            </a:r>
            <a:r>
              <a:rPr lang="en-US" sz="1800" dirty="0"/>
              <a:t> to </a:t>
            </a:r>
            <a:r>
              <a:rPr lang="en-US" sz="1800" b="1" dirty="0"/>
              <a:t>1.0 (perfect classifier)</a:t>
            </a:r>
            <a:endParaRPr lang="en-US" sz="1800" dirty="0"/>
          </a:p>
          <a:p>
            <a:r>
              <a:rPr lang="en-US" sz="1800" dirty="0"/>
              <a:t>Higher AUC means better performance and better class separation</a:t>
            </a:r>
          </a:p>
          <a:p>
            <a:r>
              <a:rPr lang="en-US" sz="1800" dirty="0"/>
              <a:t>We used the selected model to draw its ROC curve and compute the AUC score.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99401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8D3C-494C-25E9-2A42-D36F38E4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 for Part2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0EBFC9C-006B-7EB8-9BE8-8010AAD28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6240" y="2551836"/>
            <a:ext cx="567976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Accuracy: 0.9800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Accuracy: 0.9760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 well, but recall for class 1 (churn)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lower (~0.48–0.53), so it misses some churn cases.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160D03BB-FEC9-6489-6DE3-CAF1A3E2169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207669" y="2413337"/>
            <a:ext cx="59041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Non-Linear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Degree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0.9840, Test 0.9840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Degree 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0.9880, Test 0.9820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overall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Degree 9: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0.9840, Test 0.9800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Polynomial degree 5 gives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balances precision/recall for both classes</a:t>
            </a:r>
          </a:p>
        </p:txBody>
      </p:sp>
    </p:spTree>
    <p:extLst>
      <p:ext uri="{BB962C8B-B14F-4D97-AF65-F5344CB8AC3E}">
        <p14:creationId xmlns:p14="http://schemas.microsoft.com/office/powerpoint/2010/main" val="611800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A028B-3409-B9E4-FDA1-ADF8729E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DD306-9220-3DED-EAC6-4D7DE5708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5391235"/>
            <a:ext cx="4709054" cy="576262"/>
          </a:xfrm>
        </p:spPr>
        <p:txBody>
          <a:bodyPr/>
          <a:lstStyle/>
          <a:p>
            <a:r>
              <a:rPr lang="en-US" sz="1800" dirty="0"/>
              <a:t>The ROC curve shows that the polynomial degree-5 model performs extremely well. The curve stays very close to the top-left corner, which means the model correctly identifies positive and negative cases with very few mistakes.</a:t>
            </a:r>
          </a:p>
          <a:p>
            <a:r>
              <a:rPr lang="en-US" sz="1800" dirty="0"/>
              <a:t>The AUC score is about </a:t>
            </a:r>
            <a:r>
              <a:rPr lang="en-US" sz="1800" b="1" dirty="0"/>
              <a:t>0.996</a:t>
            </a:r>
            <a:r>
              <a:rPr lang="en-US" sz="1800" dirty="0"/>
              <a:t>, which is almost perfect. This suggests the model is excellent at distinguishing between the two classes. However, because the model is complex, it might be </a:t>
            </a:r>
            <a:r>
              <a:rPr lang="en-US" sz="1800" b="1" dirty="0"/>
              <a:t>overfitting</a:t>
            </a:r>
            <a:r>
              <a:rPr lang="en-US" sz="1800" dirty="0"/>
              <a:t> if this result comes from the training data rather than a separate test set.</a:t>
            </a:r>
          </a:p>
          <a:p>
            <a:endParaRPr lang="en-US" sz="1800" dirty="0"/>
          </a:p>
        </p:txBody>
      </p:sp>
      <p:pic>
        <p:nvPicPr>
          <p:cNvPr id="8" name="Content Placeholder 7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F69B4D90-66D6-B30C-B124-02D5EE2450D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096" y="1668861"/>
            <a:ext cx="4721226" cy="4010505"/>
          </a:xfrm>
        </p:spPr>
      </p:pic>
    </p:spTree>
    <p:extLst>
      <p:ext uri="{BB962C8B-B14F-4D97-AF65-F5344CB8AC3E}">
        <p14:creationId xmlns:p14="http://schemas.microsoft.com/office/powerpoint/2010/main" val="358429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4950-F728-E626-BC98-A03DDFD3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Model Complexity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11A0B4-76F2-C9B8-6EC8-02BC109EA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1" y="3011319"/>
            <a:ext cx="965200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Low-degree models (linear, degree 2) may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missing patterns in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Moderate-degree models (degree 5)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patterns well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generalize best.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High-degree models (degree 9) may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fitting noise and performing worse on new data</a:t>
            </a:r>
          </a:p>
        </p:txBody>
      </p:sp>
    </p:spTree>
    <p:extLst>
      <p:ext uri="{BB962C8B-B14F-4D97-AF65-F5344CB8AC3E}">
        <p14:creationId xmlns:p14="http://schemas.microsoft.com/office/powerpoint/2010/main" val="36478683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113</TotalTime>
  <Words>1303</Words>
  <Application>Microsoft Office PowerPoint</Application>
  <PresentationFormat>Widescreen</PresentationFormat>
  <Paragraphs>157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Celestial</vt:lpstr>
      <vt:lpstr>Assignment #2</vt:lpstr>
      <vt:lpstr>Topics</vt:lpstr>
      <vt:lpstr>Problem overview (Part 1)</vt:lpstr>
      <vt:lpstr>Data visualization</vt:lpstr>
      <vt:lpstr>What is Ridge Regression?</vt:lpstr>
      <vt:lpstr>Ridge Regression</vt:lpstr>
      <vt:lpstr>What Are RBFs?</vt:lpstr>
      <vt:lpstr>RBFs</vt:lpstr>
      <vt:lpstr>Best model for Part1</vt:lpstr>
      <vt:lpstr>Problem overview (Part 2)</vt:lpstr>
      <vt:lpstr>What is Linear Regression?</vt:lpstr>
      <vt:lpstr>What is Non-Linear Regression?</vt:lpstr>
      <vt:lpstr>What are ROC and AUC?</vt:lpstr>
      <vt:lpstr>Best model for Part2</vt:lpstr>
      <vt:lpstr>Data visualization</vt:lpstr>
      <vt:lpstr>Effect of Model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Nabeel Sawafta</dc:creator>
  <cp:lastModifiedBy>Ahmad karmi</cp:lastModifiedBy>
  <cp:revision>6</cp:revision>
  <dcterms:created xsi:type="dcterms:W3CDTF">2025-11-23T08:40:36Z</dcterms:created>
  <dcterms:modified xsi:type="dcterms:W3CDTF">2026-04-24T12:17:33Z</dcterms:modified>
</cp:coreProperties>
</file>